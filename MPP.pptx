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6" r:id="rId3"/>
    <p:sldId id="27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4" r:id="rId18"/>
    <p:sldId id="27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4810" y="356869"/>
            <a:ext cx="696150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04915" y="2342768"/>
            <a:ext cx="5452109" cy="2367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9536" y="1844824"/>
            <a:ext cx="8398647" cy="3888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 smtClean="0"/>
              <a:t>WELCOME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227360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39810">
              <a:schemeClr val="accent1">
                <a:lumMod val="20000"/>
                <a:lumOff val="80000"/>
              </a:schemeClr>
            </a:gs>
            <a:gs pos="52244">
              <a:srgbClr val="C5D5E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1384" y="1628873"/>
            <a:ext cx="5149533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u="sng" spc="4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SELF</a:t>
            </a:r>
            <a:r>
              <a:rPr sz="3200" b="1" u="sng" spc="3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3200" b="1" u="sng" spc="2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INTRODUCTION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2226" y="4906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45504" y="559327"/>
            <a:ext cx="4470976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ahoma"/>
                <a:cs typeface="Tahoma"/>
              </a:rPr>
              <a:t>Name</a:t>
            </a:r>
            <a:r>
              <a:rPr sz="2150" b="1" spc="-95" dirty="0">
                <a:latin typeface="Tahoma"/>
                <a:cs typeface="Tahoma"/>
              </a:rPr>
              <a:t> </a:t>
            </a:r>
            <a:r>
              <a:rPr lang="en-IN" sz="2150" spc="-500" dirty="0">
                <a:latin typeface="Verdana"/>
                <a:cs typeface="Verdana"/>
              </a:rPr>
              <a:t>:</a:t>
            </a:r>
            <a:r>
              <a:rPr lang="en-IN" sz="2150" spc="-190" dirty="0">
                <a:latin typeface="Verdana"/>
                <a:cs typeface="Verdana"/>
              </a:rPr>
              <a:t> </a:t>
            </a:r>
            <a:r>
              <a:rPr lang="en-IN" sz="2150" spc="-80" dirty="0">
                <a:latin typeface="Verdana"/>
                <a:cs typeface="Verdana"/>
              </a:rPr>
              <a:t> </a:t>
            </a:r>
            <a:r>
              <a:rPr lang="en-IN" sz="2150" spc="-80" dirty="0" err="1" smtClean="0">
                <a:latin typeface="Verdana"/>
                <a:cs typeface="Verdana"/>
              </a:rPr>
              <a:t>Chandradip</a:t>
            </a:r>
            <a:r>
              <a:rPr lang="en-IN" sz="2150" spc="-80" dirty="0" smtClean="0">
                <a:latin typeface="Verdana"/>
                <a:cs typeface="Verdana"/>
              </a:rPr>
              <a:t> </a:t>
            </a:r>
            <a:r>
              <a:rPr lang="en-IN" sz="2150" spc="-80" dirty="0" err="1" smtClean="0">
                <a:latin typeface="Verdana"/>
                <a:cs typeface="Verdana"/>
              </a:rPr>
              <a:t>Patil</a:t>
            </a:r>
            <a:endParaRPr sz="215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2226" y="17098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45504" y="1779841"/>
            <a:ext cx="525716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53865" algn="l"/>
              </a:tabLst>
            </a:pPr>
            <a:r>
              <a:rPr sz="2150" b="1" dirty="0">
                <a:latin typeface="Tahoma"/>
                <a:cs typeface="Tahoma"/>
              </a:rPr>
              <a:t>Course</a:t>
            </a:r>
            <a:r>
              <a:rPr sz="2150" b="1" spc="-5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65">
                <a:latin typeface="Verdana"/>
                <a:cs typeface="Verdana"/>
              </a:rPr>
              <a:t>MSC</a:t>
            </a:r>
            <a:r>
              <a:rPr sz="2150" spc="-35">
                <a:latin typeface="Verdana"/>
                <a:cs typeface="Verdana"/>
              </a:rPr>
              <a:t> </a:t>
            </a:r>
            <a:r>
              <a:rPr sz="2150" spc="-165">
                <a:latin typeface="Verdana"/>
                <a:cs typeface="Verdana"/>
              </a:rPr>
              <a:t>-</a:t>
            </a:r>
            <a:r>
              <a:rPr lang="en-US" sz="2150" spc="-165" dirty="0">
                <a:latin typeface="Verdana"/>
                <a:cs typeface="Verdana"/>
              </a:rPr>
              <a:t> </a:t>
            </a:r>
            <a:r>
              <a:rPr sz="2150" spc="-225">
                <a:latin typeface="Verdana"/>
                <a:cs typeface="Verdana"/>
              </a:rPr>
              <a:t>1st</a:t>
            </a:r>
            <a:r>
              <a:rPr sz="2150" spc="-55">
                <a:latin typeface="Verdana"/>
                <a:cs typeface="Verdana"/>
              </a:rPr>
              <a:t> </a:t>
            </a:r>
            <a:r>
              <a:rPr sz="2150" spc="-140" dirty="0">
                <a:latin typeface="Verdana"/>
                <a:cs typeface="Verdana"/>
              </a:rPr>
              <a:t>in</a:t>
            </a:r>
            <a:r>
              <a:rPr sz="2150" spc="-9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computer</a:t>
            </a:r>
            <a:r>
              <a:rPr sz="2150" dirty="0">
                <a:latin typeface="Verdana"/>
                <a:cs typeface="Verdana"/>
              </a:rPr>
              <a:t>	</a:t>
            </a:r>
            <a:r>
              <a:rPr sz="2150" spc="-10" dirty="0">
                <a:latin typeface="Verdana"/>
                <a:cs typeface="Verdana"/>
              </a:rPr>
              <a:t>science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226" y="29290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5504" y="2979570"/>
            <a:ext cx="3303270" cy="7308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150" b="1" dirty="0">
                <a:latin typeface="Tahoma"/>
                <a:cs typeface="Tahoma"/>
              </a:rPr>
              <a:t>College</a:t>
            </a:r>
            <a:r>
              <a:rPr sz="2150" b="1" spc="-20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55" dirty="0">
                <a:latin typeface="Verdana"/>
                <a:cs typeface="Verdana"/>
              </a:rPr>
              <a:t> </a:t>
            </a:r>
            <a:r>
              <a:rPr sz="2150" spc="-45" dirty="0">
                <a:latin typeface="Verdana"/>
                <a:cs typeface="Verdana"/>
              </a:rPr>
              <a:t>Pratap</a:t>
            </a:r>
            <a:r>
              <a:rPr sz="2150" spc="-8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College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50" spc="-85">
                <a:latin typeface="Verdana"/>
                <a:cs typeface="Verdana"/>
              </a:rPr>
              <a:t>Amalner</a:t>
            </a:r>
            <a:r>
              <a:rPr sz="2150" spc="-65">
                <a:latin typeface="Verdana"/>
                <a:cs typeface="Verdana"/>
              </a:rPr>
              <a:t> </a:t>
            </a:r>
            <a:r>
              <a:rPr lang="en-US" sz="2150" spc="-10" dirty="0">
                <a:latin typeface="Verdana"/>
                <a:cs typeface="Verdana"/>
              </a:rPr>
              <a:t>.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2226" y="41482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45504" y="4199786"/>
            <a:ext cx="4911725" cy="1074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25"/>
              </a:spcBef>
              <a:tabLst>
                <a:tab pos="2614295" algn="l"/>
                <a:tab pos="4311015" algn="l"/>
              </a:tabLst>
            </a:pPr>
            <a:r>
              <a:rPr sz="2150" b="1" dirty="0">
                <a:latin typeface="Tahoma"/>
                <a:cs typeface="Tahoma"/>
              </a:rPr>
              <a:t>purpose</a:t>
            </a:r>
            <a:r>
              <a:rPr sz="2150" b="1" spc="-55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145" dirty="0">
                <a:latin typeface="Verdana"/>
                <a:cs typeface="Verdana"/>
              </a:rPr>
              <a:t> </a:t>
            </a:r>
            <a:r>
              <a:rPr sz="2150" spc="-345" dirty="0">
                <a:latin typeface="Verdana"/>
                <a:cs typeface="Verdana"/>
              </a:rPr>
              <a:t>I</a:t>
            </a:r>
            <a:r>
              <a:rPr sz="2150" spc="-200" dirty="0">
                <a:latin typeface="Verdana"/>
                <a:cs typeface="Verdana"/>
              </a:rPr>
              <a:t> </a:t>
            </a:r>
            <a:r>
              <a:rPr sz="2150" spc="-170" dirty="0">
                <a:latin typeface="Verdana"/>
                <a:cs typeface="Verdana"/>
              </a:rPr>
              <a:t>am</a:t>
            </a:r>
            <a:r>
              <a:rPr sz="2150" spc="-65" dirty="0">
                <a:latin typeface="Verdana"/>
                <a:cs typeface="Verdana"/>
              </a:rPr>
              <a:t> </a:t>
            </a:r>
            <a:r>
              <a:rPr sz="2150" spc="-45" dirty="0">
                <a:latin typeface="Verdana"/>
                <a:cs typeface="Verdana"/>
              </a:rPr>
              <a:t>excited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35">
                <a:latin typeface="Verdana"/>
                <a:cs typeface="Verdana"/>
              </a:rPr>
              <a:t>to</a:t>
            </a:r>
            <a:r>
              <a:rPr sz="2150" spc="-125">
                <a:latin typeface="Verdana"/>
                <a:cs typeface="Verdana"/>
              </a:rPr>
              <a:t> </a:t>
            </a:r>
            <a:r>
              <a:rPr sz="2150" spc="-10">
                <a:latin typeface="Verdana"/>
                <a:cs typeface="Verdana"/>
              </a:rPr>
              <a:t>share</a:t>
            </a:r>
            <a:r>
              <a:rPr lang="en-US" sz="2150" spc="-10" dirty="0">
                <a:latin typeface="Verdana"/>
                <a:cs typeface="Verdana"/>
              </a:rPr>
              <a:t> </a:t>
            </a:r>
            <a:r>
              <a:rPr sz="2150" spc="-120">
                <a:latin typeface="Verdana"/>
                <a:cs typeface="Verdana"/>
              </a:rPr>
              <a:t>with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65" dirty="0">
                <a:latin typeface="Verdana"/>
                <a:cs typeface="Verdana"/>
              </a:rPr>
              <a:t> </a:t>
            </a:r>
            <a:r>
              <a:rPr sz="2150" spc="-80">
                <a:latin typeface="Verdana"/>
                <a:cs typeface="Verdana"/>
              </a:rPr>
              <a:t>internship</a:t>
            </a:r>
            <a:r>
              <a:rPr sz="2150" spc="-90">
                <a:latin typeface="Verdana"/>
                <a:cs typeface="Verdana"/>
              </a:rPr>
              <a:t> </a:t>
            </a:r>
            <a:r>
              <a:rPr sz="2150" spc="-20">
                <a:latin typeface="Verdana"/>
                <a:cs typeface="Verdana"/>
              </a:rPr>
              <a:t>work</a:t>
            </a:r>
            <a:r>
              <a:rPr lang="en-US" sz="2150" spc="-20" dirty="0">
                <a:latin typeface="Verdana"/>
                <a:cs typeface="Verdana"/>
              </a:rPr>
              <a:t>.</a:t>
            </a:r>
            <a:r>
              <a:rPr sz="2150" dirty="0">
                <a:latin typeface="Verdana"/>
                <a:cs typeface="Verdana"/>
              </a:rPr>
              <a:t>	</a:t>
            </a:r>
            <a:r>
              <a:rPr sz="2150" spc="-45" dirty="0">
                <a:latin typeface="Verdana"/>
                <a:cs typeface="Verdana"/>
              </a:rPr>
              <a:t>All</a:t>
            </a:r>
            <a:r>
              <a:rPr sz="2150" spc="-135" dirty="0">
                <a:latin typeface="Verdana"/>
                <a:cs typeface="Verdana"/>
              </a:rPr>
              <a:t>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6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present </a:t>
            </a:r>
            <a:r>
              <a:rPr sz="2150" spc="-20" dirty="0">
                <a:latin typeface="Verdana"/>
                <a:cs typeface="Verdana"/>
              </a:rPr>
              <a:t>respected</a:t>
            </a:r>
            <a:r>
              <a:rPr sz="2150" spc="-95" dirty="0">
                <a:latin typeface="Verdana"/>
                <a:cs typeface="Verdana"/>
              </a:rPr>
              <a:t> </a:t>
            </a:r>
            <a:r>
              <a:rPr sz="2150" spc="-90" dirty="0">
                <a:latin typeface="Verdana"/>
                <a:cs typeface="Verdana"/>
              </a:rPr>
              <a:t>sir</a:t>
            </a:r>
            <a:r>
              <a:rPr sz="2150" spc="-160" dirty="0">
                <a:latin typeface="Verdana"/>
                <a:cs typeface="Verdana"/>
              </a:rPr>
              <a:t> </a:t>
            </a:r>
            <a:r>
              <a:rPr sz="2150" spc="-70" dirty="0">
                <a:latin typeface="Verdana"/>
                <a:cs typeface="Verdana"/>
              </a:rPr>
              <a:t>and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mam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72226" y="53674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45504" y="5419153"/>
            <a:ext cx="5033010" cy="73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90"/>
              </a:spcBef>
            </a:pPr>
            <a:r>
              <a:rPr sz="2150" b="1" dirty="0">
                <a:latin typeface="Tahoma"/>
                <a:cs typeface="Tahoma"/>
              </a:rPr>
              <a:t>Thank</a:t>
            </a:r>
            <a:r>
              <a:rPr sz="2150" b="1" spc="-130" dirty="0">
                <a:latin typeface="Tahoma"/>
                <a:cs typeface="Tahoma"/>
              </a:rPr>
              <a:t> </a:t>
            </a:r>
            <a:r>
              <a:rPr sz="2150" b="1" spc="-10" dirty="0">
                <a:latin typeface="Tahoma"/>
                <a:cs typeface="Tahoma"/>
              </a:rPr>
              <a:t>you</a:t>
            </a:r>
            <a:r>
              <a:rPr sz="2150" b="1" spc="-60" dirty="0">
                <a:latin typeface="Tahoma"/>
                <a:cs typeface="Tahoma"/>
              </a:rPr>
              <a:t> </a:t>
            </a:r>
            <a:r>
              <a:rPr sz="2150" b="1" spc="-155" dirty="0">
                <a:latin typeface="Tahoma"/>
                <a:cs typeface="Tahoma"/>
              </a:rPr>
              <a:t>:-</a:t>
            </a:r>
            <a:r>
              <a:rPr sz="2150" b="1" dirty="0">
                <a:latin typeface="Tahoma"/>
                <a:cs typeface="Tahoma"/>
              </a:rPr>
              <a:t> </a:t>
            </a:r>
            <a:r>
              <a:rPr sz="2150" spc="-65" dirty="0">
                <a:latin typeface="Verdana"/>
                <a:cs typeface="Verdana"/>
              </a:rPr>
              <a:t>Thank</a:t>
            </a:r>
            <a:r>
              <a:rPr sz="2150" spc="-215" dirty="0">
                <a:latin typeface="Verdana"/>
                <a:cs typeface="Verdana"/>
              </a:rPr>
              <a:t> </a:t>
            </a:r>
            <a:r>
              <a:rPr sz="2150" spc="-90" dirty="0">
                <a:latin typeface="Verdana"/>
                <a:cs typeface="Verdana"/>
              </a:rPr>
              <a:t>all</a:t>
            </a:r>
            <a:r>
              <a:rPr sz="2150" spc="-13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of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110" dirty="0">
                <a:latin typeface="Verdana"/>
                <a:cs typeface="Verdana"/>
              </a:rPr>
              <a:t>you </a:t>
            </a:r>
            <a:r>
              <a:rPr sz="2150" spc="-50" dirty="0">
                <a:latin typeface="Verdana"/>
                <a:cs typeface="Verdana"/>
              </a:rPr>
              <a:t>for</a:t>
            </a:r>
            <a:r>
              <a:rPr sz="2150" spc="-150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being </a:t>
            </a:r>
            <a:r>
              <a:rPr sz="2150" spc="-60" dirty="0">
                <a:latin typeface="Verdana"/>
                <a:cs typeface="Verdana"/>
              </a:rPr>
              <a:t>here</a:t>
            </a:r>
            <a:r>
              <a:rPr sz="2150" spc="-135" dirty="0">
                <a:latin typeface="Verdana"/>
                <a:cs typeface="Verdana"/>
              </a:rPr>
              <a:t> </a:t>
            </a:r>
            <a:r>
              <a:rPr sz="2150" spc="-80" dirty="0">
                <a:latin typeface="Verdana"/>
                <a:cs typeface="Verdana"/>
              </a:rPr>
              <a:t>let`s</a:t>
            </a:r>
            <a:r>
              <a:rPr sz="2150" spc="-229" dirty="0">
                <a:latin typeface="Verdana"/>
                <a:cs typeface="Verdana"/>
              </a:rPr>
              <a:t> </a:t>
            </a:r>
            <a:r>
              <a:rPr sz="2150" spc="-50" dirty="0">
                <a:latin typeface="Verdana"/>
                <a:cs typeface="Verdana"/>
              </a:rPr>
              <a:t>get</a:t>
            </a:r>
            <a:r>
              <a:rPr sz="2150" spc="-90" dirty="0">
                <a:latin typeface="Verdana"/>
                <a:cs typeface="Verdana"/>
              </a:rPr>
              <a:t> </a:t>
            </a:r>
            <a:r>
              <a:rPr sz="2150" spc="-80" dirty="0">
                <a:latin typeface="Verdana"/>
                <a:cs typeface="Verdana"/>
              </a:rPr>
              <a:t>start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5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presentation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0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2457450"/>
            <a:chOff x="0" y="0"/>
            <a:chExt cx="12192000" cy="2457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457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96076" y="442976"/>
              <a:ext cx="5657850" cy="923925"/>
            </a:xfrm>
            <a:custGeom>
              <a:avLst/>
              <a:gdLst/>
              <a:ahLst/>
              <a:cxnLst/>
              <a:rect l="l" t="t" r="r" b="b"/>
              <a:pathLst>
                <a:path w="5657850" h="923925">
                  <a:moveTo>
                    <a:pt x="0" y="0"/>
                  </a:moveTo>
                  <a:lnTo>
                    <a:pt x="5657850" y="0"/>
                  </a:lnTo>
                </a:path>
                <a:path w="5657850" h="923925">
                  <a:moveTo>
                    <a:pt x="0" y="923925"/>
                  </a:moveTo>
                  <a:lnTo>
                    <a:pt x="5657850" y="923925"/>
                  </a:lnTo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4455" y="4693602"/>
            <a:ext cx="361696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u="sng" spc="5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CONTENT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304915" y="493394"/>
            <a:ext cx="3382645" cy="1442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80135" algn="l"/>
              </a:tabLst>
            </a:pP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Self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introduction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40"/>
              </a:spcBef>
            </a:pP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About</a:t>
            </a:r>
            <a:r>
              <a:rPr sz="32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6076" y="2290826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96076" y="3214751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6076" y="4138676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45" dirty="0"/>
              <a:t>Introduction</a:t>
            </a:r>
            <a:r>
              <a:rPr spc="-285" dirty="0"/>
              <a:t> </a:t>
            </a:r>
            <a:r>
              <a:rPr dirty="0"/>
              <a:t>of</a:t>
            </a:r>
            <a:r>
              <a:rPr spc="-480" dirty="0"/>
              <a:t> </a:t>
            </a:r>
            <a:r>
              <a:rPr spc="-10" dirty="0"/>
              <a:t>company</a:t>
            </a:r>
          </a:p>
          <a:p>
            <a:pPr marL="12700" marR="5080">
              <a:lnSpc>
                <a:spcPts val="7280"/>
              </a:lnSpc>
              <a:spcBef>
                <a:spcPts val="615"/>
              </a:spcBef>
            </a:pPr>
            <a:r>
              <a:rPr dirty="0"/>
              <a:t>Process</a:t>
            </a:r>
            <a:r>
              <a:rPr spc="-285" dirty="0"/>
              <a:t> </a:t>
            </a:r>
            <a:r>
              <a:rPr spc="-70" dirty="0"/>
              <a:t>follow</a:t>
            </a:r>
            <a:r>
              <a:rPr spc="-459" dirty="0"/>
              <a:t> </a:t>
            </a:r>
            <a:r>
              <a:rPr spc="-60" dirty="0"/>
              <a:t>for</a:t>
            </a:r>
            <a:r>
              <a:rPr spc="-275" dirty="0"/>
              <a:t> </a:t>
            </a:r>
            <a:r>
              <a:rPr spc="-110" dirty="0"/>
              <a:t>internship </a:t>
            </a:r>
            <a:r>
              <a:rPr spc="-50" dirty="0"/>
              <a:t>Task</a:t>
            </a:r>
            <a:r>
              <a:rPr spc="-245" dirty="0"/>
              <a:t> </a:t>
            </a:r>
            <a:r>
              <a:rPr spc="-775" dirty="0"/>
              <a:t>1</a:t>
            </a:r>
            <a:r>
              <a:rPr spc="-285" dirty="0"/>
              <a:t> </a:t>
            </a:r>
            <a:r>
              <a:rPr spc="-130" dirty="0"/>
              <a:t>and</a:t>
            </a:r>
            <a:r>
              <a:rPr spc="-345" dirty="0"/>
              <a:t> </a:t>
            </a:r>
            <a:r>
              <a:rPr spc="-50" dirty="0"/>
              <a:t>2</a:t>
            </a:r>
          </a:p>
        </p:txBody>
      </p:sp>
      <p:sp>
        <p:nvSpPr>
          <p:cNvPr id="12" name="object 12"/>
          <p:cNvSpPr/>
          <p:nvPr/>
        </p:nvSpPr>
        <p:spPr>
          <a:xfrm>
            <a:off x="6196076" y="5062601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04915" y="5116829"/>
            <a:ext cx="137922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6076" y="5986462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04915" y="6041390"/>
            <a:ext cx="20447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50" dirty="0">
                <a:solidFill>
                  <a:srgbClr val="FFFFFF"/>
                </a:solidFill>
                <a:latin typeface="Verdana"/>
                <a:cs typeface="Verdana"/>
              </a:rPr>
              <a:t>Certificate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624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8408" y="855980"/>
              <a:ext cx="10344785" cy="28575"/>
            </a:xfrm>
            <a:custGeom>
              <a:avLst/>
              <a:gdLst/>
              <a:ahLst/>
              <a:cxnLst/>
              <a:rect l="l" t="t" r="r" b="b"/>
              <a:pathLst>
                <a:path w="10344785" h="28575">
                  <a:moveTo>
                    <a:pt x="103442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344200" y="28575"/>
                  </a:lnTo>
                  <a:lnTo>
                    <a:pt x="10344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6457" y="300990"/>
            <a:ext cx="1037844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910205" algn="l"/>
                <a:tab pos="5541010" algn="l"/>
                <a:tab pos="7037705" algn="l"/>
              </a:tabLst>
            </a:pPr>
            <a:r>
              <a:rPr sz="3950" b="1" spc="470" dirty="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10" dirty="0">
                <a:solidFill>
                  <a:srgbClr val="FFFFFF"/>
                </a:solidFill>
                <a:latin typeface="Cambria"/>
                <a:cs typeface="Cambria"/>
              </a:rPr>
              <a:t>FOLLOW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43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05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endParaRPr sz="395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9336" y="1234440"/>
            <a:ext cx="12192000" cy="5924550"/>
            <a:chOff x="0" y="1436750"/>
            <a:chExt cx="12192000" cy="54216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53199"/>
              <a:ext cx="12191999" cy="3047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9112" y="1719325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112" y="1719325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2037" y="1443100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7470711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7470711" y="552450"/>
                  </a:lnTo>
                  <a:lnTo>
                    <a:pt x="7506602" y="545205"/>
                  </a:lnTo>
                  <a:lnTo>
                    <a:pt x="7535910" y="525446"/>
                  </a:lnTo>
                  <a:lnTo>
                    <a:pt x="7555668" y="496139"/>
                  </a:lnTo>
                  <a:lnTo>
                    <a:pt x="7562913" y="460248"/>
                  </a:lnTo>
                  <a:lnTo>
                    <a:pt x="7562913" y="92075"/>
                  </a:lnTo>
                  <a:lnTo>
                    <a:pt x="7555668" y="56203"/>
                  </a:lnTo>
                  <a:lnTo>
                    <a:pt x="7535910" y="26939"/>
                  </a:lnTo>
                  <a:lnTo>
                    <a:pt x="7506602" y="7225"/>
                  </a:lnTo>
                  <a:lnTo>
                    <a:pt x="7470711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2037" y="1443100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7470711" y="0"/>
                  </a:lnTo>
                  <a:lnTo>
                    <a:pt x="7506602" y="7225"/>
                  </a:lnTo>
                  <a:lnTo>
                    <a:pt x="7535910" y="26939"/>
                  </a:lnTo>
                  <a:lnTo>
                    <a:pt x="7555668" y="56203"/>
                  </a:lnTo>
                  <a:lnTo>
                    <a:pt x="7562913" y="92075"/>
                  </a:lnTo>
                  <a:lnTo>
                    <a:pt x="7562913" y="460248"/>
                  </a:lnTo>
                  <a:lnTo>
                    <a:pt x="7555668" y="496139"/>
                  </a:lnTo>
                  <a:lnTo>
                    <a:pt x="7535910" y="525446"/>
                  </a:lnTo>
                  <a:lnTo>
                    <a:pt x="7506602" y="545205"/>
                  </a:lnTo>
                  <a:lnTo>
                    <a:pt x="7470711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112" y="2576575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9112" y="2576575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2037" y="2300350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2037" y="2300350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112" y="3443350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112" y="3443350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2037" y="3167125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7470711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7470711" y="552450"/>
                  </a:lnTo>
                  <a:lnTo>
                    <a:pt x="7506602" y="545205"/>
                  </a:lnTo>
                  <a:lnTo>
                    <a:pt x="7535910" y="525446"/>
                  </a:lnTo>
                  <a:lnTo>
                    <a:pt x="7555668" y="496139"/>
                  </a:lnTo>
                  <a:lnTo>
                    <a:pt x="7562913" y="460248"/>
                  </a:lnTo>
                  <a:lnTo>
                    <a:pt x="7562913" y="92075"/>
                  </a:lnTo>
                  <a:lnTo>
                    <a:pt x="7555668" y="56203"/>
                  </a:lnTo>
                  <a:lnTo>
                    <a:pt x="7535910" y="26939"/>
                  </a:lnTo>
                  <a:lnTo>
                    <a:pt x="7506602" y="7225"/>
                  </a:lnTo>
                  <a:lnTo>
                    <a:pt x="7470711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2037" y="3167125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7470711" y="0"/>
                  </a:lnTo>
                  <a:lnTo>
                    <a:pt x="7506602" y="7225"/>
                  </a:lnTo>
                  <a:lnTo>
                    <a:pt x="7535910" y="26939"/>
                  </a:lnTo>
                  <a:lnTo>
                    <a:pt x="7555668" y="56203"/>
                  </a:lnTo>
                  <a:lnTo>
                    <a:pt x="7562913" y="92075"/>
                  </a:lnTo>
                  <a:lnTo>
                    <a:pt x="7562913" y="460248"/>
                  </a:lnTo>
                  <a:lnTo>
                    <a:pt x="7555668" y="496139"/>
                  </a:lnTo>
                  <a:lnTo>
                    <a:pt x="7535910" y="525446"/>
                  </a:lnTo>
                  <a:lnTo>
                    <a:pt x="7506602" y="545205"/>
                  </a:lnTo>
                  <a:lnTo>
                    <a:pt x="7470711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112" y="4300600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9112" y="4300600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2037" y="402437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62037" y="402437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112" y="5167312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112" y="5167312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62037" y="488162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62037" y="488162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112" y="6024562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112" y="6024562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2037" y="5748337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60"/>
                  </a:lnTo>
                  <a:lnTo>
                    <a:pt x="27433" y="27433"/>
                  </a:lnTo>
                  <a:lnTo>
                    <a:pt x="7360" y="57205"/>
                  </a:lnTo>
                  <a:lnTo>
                    <a:pt x="0" y="93662"/>
                  </a:lnTo>
                  <a:lnTo>
                    <a:pt x="0" y="468312"/>
                  </a:lnTo>
                  <a:lnTo>
                    <a:pt x="7360" y="504769"/>
                  </a:lnTo>
                  <a:lnTo>
                    <a:pt x="27433" y="534541"/>
                  </a:lnTo>
                  <a:lnTo>
                    <a:pt x="57205" y="554614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614"/>
                  </a:lnTo>
                  <a:lnTo>
                    <a:pt x="7535433" y="534541"/>
                  </a:lnTo>
                  <a:lnTo>
                    <a:pt x="7555537" y="504769"/>
                  </a:lnTo>
                  <a:lnTo>
                    <a:pt x="7562913" y="468312"/>
                  </a:lnTo>
                  <a:lnTo>
                    <a:pt x="7562913" y="93662"/>
                  </a:lnTo>
                  <a:lnTo>
                    <a:pt x="7555537" y="57205"/>
                  </a:lnTo>
                  <a:lnTo>
                    <a:pt x="7535433" y="27433"/>
                  </a:lnTo>
                  <a:lnTo>
                    <a:pt x="7505638" y="7360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2037" y="5748337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662"/>
                  </a:moveTo>
                  <a:lnTo>
                    <a:pt x="7360" y="57205"/>
                  </a:lnTo>
                  <a:lnTo>
                    <a:pt x="27433" y="27433"/>
                  </a:lnTo>
                  <a:lnTo>
                    <a:pt x="57205" y="7360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60"/>
                  </a:lnTo>
                  <a:lnTo>
                    <a:pt x="7535433" y="27433"/>
                  </a:lnTo>
                  <a:lnTo>
                    <a:pt x="7555537" y="57205"/>
                  </a:lnTo>
                  <a:lnTo>
                    <a:pt x="7562913" y="93662"/>
                  </a:lnTo>
                  <a:lnTo>
                    <a:pt x="7562913" y="468312"/>
                  </a:lnTo>
                  <a:lnTo>
                    <a:pt x="7555537" y="504769"/>
                  </a:lnTo>
                  <a:lnTo>
                    <a:pt x="7535433" y="534541"/>
                  </a:lnTo>
                  <a:lnTo>
                    <a:pt x="7505638" y="554614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614"/>
                  </a:lnTo>
                  <a:lnTo>
                    <a:pt x="27433" y="534541"/>
                  </a:lnTo>
                  <a:lnTo>
                    <a:pt x="7360" y="504769"/>
                  </a:lnTo>
                  <a:lnTo>
                    <a:pt x="0" y="468312"/>
                  </a:lnTo>
                  <a:lnTo>
                    <a:pt x="0" y="936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58900" y="1542478"/>
            <a:ext cx="5377180" cy="462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Apply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r>
              <a:rPr lang="en-IN" sz="18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1850" spc="-10" dirty="0" smtClean="0">
                <a:solidFill>
                  <a:srgbClr val="FFFFFF"/>
                </a:solidFill>
                <a:latin typeface="Verdana"/>
                <a:cs typeface="Verdana"/>
              </a:rPr>
              <a:t>future interns</a:t>
            </a:r>
            <a:endParaRPr sz="1850" dirty="0">
              <a:latin typeface="Verdana"/>
              <a:cs typeface="Verdana"/>
            </a:endParaRPr>
          </a:p>
          <a:p>
            <a:pPr marL="12700" marR="5080">
              <a:lnSpc>
                <a:spcPts val="6800"/>
              </a:lnSpc>
              <a:spcBef>
                <a:spcPts val="985"/>
              </a:spcBef>
            </a:pP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Receive</a:t>
            </a:r>
            <a:r>
              <a:rPr sz="18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letter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lang="en-IN" sz="1850" spc="-65" dirty="0" smtClean="0">
                <a:solidFill>
                  <a:srgbClr val="FFFFFF"/>
                </a:solidFill>
                <a:latin typeface="Verdana"/>
                <a:cs typeface="Verdana"/>
              </a:rPr>
              <a:t>future interns </a:t>
            </a:r>
            <a:r>
              <a:rPr sz="1850" spc="-20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give</a:t>
            </a:r>
            <a:r>
              <a:rPr lang="en-US"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sz="18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(individual)</a:t>
            </a:r>
            <a:endParaRPr sz="1850" dirty="0">
              <a:latin typeface="Verdana"/>
              <a:cs typeface="Verdana"/>
            </a:endParaRPr>
          </a:p>
          <a:p>
            <a:pPr marL="12700" marR="1535430">
              <a:lnSpc>
                <a:spcPts val="6790"/>
              </a:lnSpc>
            </a:pP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Complete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sz="18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submit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18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lang="en-US" sz="1850" spc="-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ve</a:t>
            </a:r>
            <a:r>
              <a:rPr sz="18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Second</a:t>
            </a:r>
            <a:r>
              <a:rPr sz="18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endParaRPr sz="18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Complete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Second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Su</a:t>
            </a:r>
            <a:r>
              <a:rPr lang="en-US" sz="1850" spc="-1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mit</a:t>
            </a:r>
            <a:endParaRPr sz="18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55417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515100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6472" y="521080"/>
            <a:ext cx="577469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52320" algn="l"/>
                <a:tab pos="5589270" algn="l"/>
              </a:tabLst>
            </a:pPr>
            <a:r>
              <a:rPr sz="3950" b="1" spc="270" dirty="0">
                <a:solidFill>
                  <a:srgbClr val="FFFFFF"/>
                </a:solidFill>
                <a:latin typeface="Cambria"/>
                <a:cs typeface="Cambria"/>
              </a:rPr>
              <a:t>ABOUT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05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19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3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9456" y="1488713"/>
            <a:ext cx="9739630" cy="569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655" indent="-285750">
              <a:lnSpc>
                <a:spcPts val="2865"/>
              </a:lnSpc>
              <a:spcBef>
                <a:spcPts val="105"/>
              </a:spcBef>
              <a:buSzPct val="89583"/>
              <a:buAutoNum type="arabicParenR"/>
              <a:tabLst>
                <a:tab pos="287655" algn="l"/>
                <a:tab pos="2023745" algn="l"/>
                <a:tab pos="2510155" algn="l"/>
                <a:tab pos="3396615" algn="l"/>
                <a:tab pos="6885305" algn="l"/>
              </a:tabLst>
            </a:pP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Duration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days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Start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day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05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\0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\202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24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90" dirty="0">
                <a:solidFill>
                  <a:srgbClr val="FFFFFF"/>
                </a:solidFill>
                <a:latin typeface="Cambria"/>
                <a:cs typeface="Cambria"/>
              </a:rPr>
              <a:t>End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day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65"/>
              </a:lnSpc>
            </a:pP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08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/0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/202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spcBef>
                <a:spcPts val="50"/>
              </a:spcBef>
              <a:buSzPct val="89583"/>
              <a:buAutoNum type="arabicParenR" startAt="2"/>
              <a:tabLst>
                <a:tab pos="288290" algn="l"/>
                <a:tab pos="2357755" algn="l"/>
                <a:tab pos="3987165" algn="l"/>
              </a:tabLst>
            </a:pPr>
            <a:r>
              <a:rPr sz="2400" b="1" u="sng" spc="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Intern</a:t>
            </a:r>
            <a:r>
              <a:rPr sz="2400" b="1" u="sng" spc="22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4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2400" spc="-20" dirty="0" smtClean="0">
                <a:solidFill>
                  <a:srgbClr val="FFFFFF"/>
                </a:solidFill>
                <a:latin typeface="Cambria"/>
                <a:cs typeface="Cambria"/>
              </a:rPr>
              <a:t>Full Stack Web Development Internship 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Cambria"/>
              <a:buAutoNum type="arabicParenR" startAt="2"/>
            </a:pP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spcBef>
                <a:spcPts val="5"/>
              </a:spcBef>
              <a:buSzPct val="89583"/>
              <a:buAutoNum type="arabicParenR" startAt="2"/>
              <a:tabLst>
                <a:tab pos="288290" algn="l"/>
              </a:tabLst>
            </a:pPr>
            <a:r>
              <a:rPr sz="2400" b="1" u="sng" spc="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Paid</a:t>
            </a:r>
            <a:r>
              <a:rPr sz="2400" b="1" u="sng" spc="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or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unpaid</a:t>
            </a:r>
            <a:r>
              <a:rPr sz="24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2400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r>
              <a:rPr sz="24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Was</a:t>
            </a:r>
            <a:r>
              <a:rPr sz="24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Unpaid</a:t>
            </a: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buSzPct val="89583"/>
              <a:buAutoNum type="arabicParenR" startAt="2"/>
              <a:tabLst>
                <a:tab pos="288290" algn="l"/>
                <a:tab pos="4111625" algn="l"/>
              </a:tabLst>
            </a:pPr>
            <a:r>
              <a:rPr sz="2400" b="1"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2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Have</a:t>
            </a:r>
            <a:r>
              <a:rPr sz="2400" b="1" u="sng" spc="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On</a:t>
            </a:r>
            <a:r>
              <a:rPr sz="2400" b="1"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Work</a:t>
            </a:r>
            <a:r>
              <a:rPr sz="2400" b="1" u="sng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On</a:t>
            </a: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spc="-35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endParaRPr sz="39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ts val="2865"/>
              </a:lnSpc>
            </a:pPr>
            <a:r>
              <a:rPr sz="2400" b="1" u="sng" spc="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2400" b="1" u="sng" spc="2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1</a:t>
            </a:r>
            <a:r>
              <a:rPr sz="2400" b="1" u="sng" spc="2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–</a:t>
            </a:r>
            <a:r>
              <a:rPr sz="24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(Individual)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55"/>
              </a:lnSpc>
            </a:pPr>
            <a:r>
              <a:rPr sz="2400" spc="135" dirty="0">
                <a:solidFill>
                  <a:srgbClr val="FFFFFF"/>
                </a:solidFill>
                <a:latin typeface="Georgia"/>
                <a:cs typeface="Georgia"/>
              </a:rPr>
              <a:t>1]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 : Java Code Review and Error Correction</a:t>
            </a:r>
          </a:p>
          <a:p>
            <a:pPr marL="12700">
              <a:lnSpc>
                <a:spcPts val="2855"/>
              </a:lnSpc>
            </a:pP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Level: Beginner</a:t>
            </a:r>
          </a:p>
          <a:p>
            <a:pPr marL="12700">
              <a:lnSpc>
                <a:spcPts val="2855"/>
              </a:lnSpc>
            </a:pP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Objective: Identify, correct, and explain errors in Java code snippets to strengthen understanding of Java syntax and structure.</a:t>
            </a:r>
          </a:p>
          <a:p>
            <a:pPr marL="12700">
              <a:lnSpc>
                <a:spcPts val="2855"/>
              </a:lnSpc>
            </a:pPr>
            <a:endParaRPr sz="2400" dirty="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6775" y="1371600"/>
            <a:ext cx="10720070" cy="20320"/>
          </a:xfrm>
          <a:custGeom>
            <a:avLst/>
            <a:gdLst/>
            <a:ahLst/>
            <a:cxnLst/>
            <a:rect l="l" t="t" r="r" b="b"/>
            <a:pathLst>
              <a:path w="10720070" h="20319">
                <a:moveTo>
                  <a:pt x="0" y="20065"/>
                </a:moveTo>
                <a:lnTo>
                  <a:pt x="10719816" y="0"/>
                </a:lnTo>
              </a:path>
            </a:pathLst>
          </a:custGeom>
          <a:ln w="1905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6899" y="693242"/>
            <a:ext cx="8511686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17060" algn="l"/>
                <a:tab pos="5340985" algn="l"/>
                <a:tab pos="8202295" algn="l"/>
              </a:tabLst>
            </a:pPr>
            <a:r>
              <a:rPr sz="3950" b="1" u="sng" spc="3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INTRODUCTION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3950" b="1" u="sng" spc="4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OF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3950" b="1" u="sng" spc="3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COMPANY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endParaRPr sz="3950" dirty="0">
              <a:latin typeface="Cambria"/>
              <a:cs typeface="Cambr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9720" y="150017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At </a:t>
            </a:r>
            <a:r>
              <a:rPr lang="en-US" sz="2000" dirty="0" smtClean="0">
                <a:solidFill>
                  <a:schemeClr val="bg1"/>
                </a:solidFill>
              </a:rPr>
              <a:t>future interns, </a:t>
            </a:r>
            <a:r>
              <a:rPr lang="en-US" sz="2000" dirty="0">
                <a:solidFill>
                  <a:schemeClr val="bg1"/>
                </a:solidFill>
              </a:rPr>
              <a:t>we're on a mission to revolutionize online education by providing dynamic and interactive live training programs in cutting-edge technologies.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809720" y="2857496"/>
            <a:ext cx="67866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Future interns </a:t>
            </a:r>
            <a:r>
              <a:rPr lang="en-US" sz="2000" dirty="0">
                <a:solidFill>
                  <a:schemeClr val="bg1"/>
                </a:solidFill>
              </a:rPr>
              <a:t>is at the forefront of online education,   offering live training programs and courses that span   the dynamic landscape of technology. Specializing in web development, data science and analytics, UI/UX designing, app development, </a:t>
            </a:r>
            <a:r>
              <a:rPr lang="en-US" sz="2000" dirty="0" smtClean="0">
                <a:solidFill>
                  <a:schemeClr val="bg1"/>
                </a:solidFill>
              </a:rPr>
              <a:t>HTML, CSS, </a:t>
            </a:r>
            <a:r>
              <a:rPr lang="en-US" sz="2000" dirty="0">
                <a:solidFill>
                  <a:schemeClr val="bg1"/>
                </a:solidFill>
              </a:rPr>
              <a:t>and Java programming, we provide a comprehensive and hands-on learning experience for students and professionals alike.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4984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2003" y="1167764"/>
            <a:ext cx="318071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u="sng" spc="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3600" b="1" u="sng" spc="2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2</a:t>
            </a:r>
            <a:r>
              <a:rPr sz="3600" b="1" u="sng" spc="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–</a:t>
            </a:r>
            <a:r>
              <a:rPr sz="36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</a:t>
            </a:r>
            <a:r>
              <a:rPr lang="en-IN"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ask </a:t>
            </a:r>
            <a:r>
              <a:rPr sz="3600" b="1" u="sng" spc="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work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003" y="2590800"/>
            <a:ext cx="5379085" cy="3008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1]</a:t>
            </a:r>
            <a:r>
              <a:rPr lang="en-IN" sz="28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Create a presentation on the topic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-Introduction and history of java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-OOPs in Java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Submit in </a:t>
            </a:r>
            <a:r>
              <a:rPr lang="en-US" sz="2800" spc="-265" dirty="0" err="1">
                <a:solidFill>
                  <a:srgbClr val="FFFFFF"/>
                </a:solidFill>
                <a:latin typeface="Verdana"/>
                <a:cs typeface="Verdana"/>
              </a:rPr>
              <a:t>pdf</a:t>
            </a: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  format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5"/>
              </a:spcBef>
              <a:tabLst>
                <a:tab pos="1146810" algn="l"/>
              </a:tabLst>
            </a:pPr>
            <a:r>
              <a:rPr lang="en-IN" sz="2800" b="1" u="sng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93700" marR="5080" indent="-381635">
              <a:lnSpc>
                <a:spcPts val="4810"/>
              </a:lnSpc>
              <a:spcBef>
                <a:spcPts val="680"/>
              </a:spcBef>
              <a:tabLst>
                <a:tab pos="1490345" algn="l"/>
                <a:tab pos="2558415" algn="l"/>
                <a:tab pos="3434715" algn="l"/>
                <a:tab pos="3712210" algn="l"/>
                <a:tab pos="4588510" algn="l"/>
              </a:tabLst>
            </a:pPr>
            <a:r>
              <a:rPr sz="4400" b="1" u="sng" spc="2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This</a:t>
            </a:r>
            <a:r>
              <a:rPr sz="4400" b="1" u="sng" spc="48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spc="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are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3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technology</a:t>
            </a:r>
            <a:r>
              <a:rPr sz="4400" b="1" spc="2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400" b="1" u="sng" spc="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are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25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use</a:t>
            </a:r>
            <a:r>
              <a:rPr sz="4400" b="1" u="sng" spc="4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spc="22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3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projec</a:t>
            </a:r>
            <a:r>
              <a:rPr sz="3950" u="sng" spc="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472" y="5317490"/>
            <a:ext cx="285178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8950" algn="l"/>
              </a:tabLst>
            </a:pPr>
            <a:r>
              <a:rPr sz="2750" b="1" spc="-25" dirty="0">
                <a:solidFill>
                  <a:srgbClr val="FFFFFF"/>
                </a:solidFill>
                <a:latin typeface="Cambria"/>
                <a:cs typeface="Cambria"/>
              </a:rPr>
              <a:t>1)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750" b="1" spc="380" dirty="0">
                <a:solidFill>
                  <a:srgbClr val="FFFFFF"/>
                </a:solidFill>
                <a:latin typeface="Cambria"/>
                <a:cs typeface="Cambria"/>
              </a:rPr>
              <a:t>JAVA</a:t>
            </a:r>
            <a:r>
              <a:rPr sz="2750" b="1" spc="3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50" b="1" spc="195" dirty="0">
                <a:solidFill>
                  <a:srgbClr val="FFFFFF"/>
                </a:solidFill>
                <a:latin typeface="Cambria"/>
                <a:cs typeface="Cambria"/>
              </a:rPr>
              <a:t>SWING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9551" y="5230335"/>
            <a:ext cx="340550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03250" algn="l"/>
                <a:tab pos="2461895" algn="l"/>
              </a:tabLst>
            </a:pPr>
            <a:r>
              <a:rPr sz="2750" b="1" spc="-25" dirty="0">
                <a:solidFill>
                  <a:srgbClr val="FFFFFF"/>
                </a:solidFill>
                <a:latin typeface="Cambria"/>
                <a:cs typeface="Cambria"/>
              </a:rPr>
              <a:t>2)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lang="en-IN" sz="2750" b="1" spc="290" dirty="0">
                <a:solidFill>
                  <a:srgbClr val="FFFFFF"/>
                </a:solidFill>
                <a:latin typeface="Cambria"/>
                <a:cs typeface="Cambria"/>
              </a:rPr>
              <a:t>HTML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5400" y="5317490"/>
            <a:ext cx="4011929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55700" algn="l"/>
                <a:tab pos="1918335" algn="l"/>
              </a:tabLst>
            </a:pP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3)</a:t>
            </a:r>
            <a:r>
              <a:rPr sz="2750" b="1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2750" b="1" spc="204" dirty="0">
                <a:solidFill>
                  <a:srgbClr val="FFFFFF"/>
                </a:solidFill>
                <a:latin typeface="Cambria"/>
                <a:cs typeface="Cambria"/>
              </a:rPr>
              <a:t>CSS</a:t>
            </a:r>
            <a:endParaRPr sz="2750" dirty="0">
              <a:latin typeface="Cambria"/>
              <a:cs typeface="Cambri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23BBD5A-0B59-1F5F-F0DF-961BA1D3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7437"/>
            <a:ext cx="2143125" cy="2143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CE52034-7A8B-A8EA-4251-8A53BDF96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2357437"/>
            <a:ext cx="2143125" cy="2143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1CC09B9D-B4AD-90BC-ED20-DF789C944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910" y="2328706"/>
            <a:ext cx="1800225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75" y="123823"/>
              <a:ext cx="11972925" cy="6667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3874" y="0"/>
            <a:ext cx="6609080" cy="8091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03935" algn="l"/>
                <a:tab pos="1366520" algn="l"/>
              </a:tabLst>
            </a:pPr>
            <a:r>
              <a:rPr sz="2750" b="1" spc="130" dirty="0">
                <a:solidFill>
                  <a:srgbClr val="FFFFFF"/>
                </a:solidFill>
                <a:latin typeface="Cambria"/>
                <a:cs typeface="Cambria"/>
              </a:rPr>
              <a:t>Task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750" b="1" spc="14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800" spc="-41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 Java Code Review and Error Correction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767" y="791156"/>
            <a:ext cx="2781300" cy="7700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  <a:tabLst>
                <a:tab pos="355600" algn="l"/>
              </a:tabLst>
            </a:pPr>
            <a:r>
              <a:rPr sz="2000" b="1" spc="-305" dirty="0">
                <a:solidFill>
                  <a:srgbClr val="92D050"/>
                </a:solidFill>
                <a:latin typeface="Tahoma"/>
                <a:cs typeface="Tahoma"/>
              </a:rPr>
              <a:t>1</a:t>
            </a:r>
            <a:r>
              <a:rPr lang="en-IN" sz="2000" b="1" spc="-305" dirty="0">
                <a:solidFill>
                  <a:srgbClr val="92D050"/>
                </a:solidFill>
                <a:latin typeface="Tahoma"/>
                <a:cs typeface="Tahoma"/>
              </a:rPr>
              <a:t> 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Level: Beginner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endParaRPr sz="2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767" y="1553273"/>
            <a:ext cx="12953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D44017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FC891C7F-6CE7-89C4-B254-176E04FF6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35" y="1176197"/>
            <a:ext cx="5310547" cy="45787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5ABBA3D1-6AC6-F64F-B5A8-ABB1CE9ED6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13" t="68275" r="3246" b="-7886"/>
          <a:stretch/>
        </p:blipFill>
        <p:spPr>
          <a:xfrm>
            <a:off x="536727" y="2699763"/>
            <a:ext cx="5867400" cy="26410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1754476-F657-2D71-3348-99449DDCDA6A}"/>
              </a:ext>
            </a:extLst>
          </p:cNvPr>
          <p:cNvSpPr txBox="1"/>
          <p:nvPr/>
        </p:nvSpPr>
        <p:spPr>
          <a:xfrm flipH="1">
            <a:off x="6953256" y="5929330"/>
            <a:ext cx="415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Output - Hello world </a:t>
            </a:r>
            <a:endParaRPr lang="en-IN" dirty="0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xmlns="" id="{8C46B6D4-9491-049F-4AB1-102BD2D04A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88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" y="171450"/>
              <a:ext cx="11925300" cy="65151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60D0025-93C1-3048-22F7-976A3C49A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69" y="703897"/>
            <a:ext cx="5502349" cy="5257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49C9A3C7-87DF-D9CB-E920-0DE3310D73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" t="-73921" r="-1440" b="73921"/>
          <a:stretch/>
        </p:blipFill>
        <p:spPr>
          <a:xfrm>
            <a:off x="661309" y="-2971800"/>
            <a:ext cx="52904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987" y="-7620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114800"/>
              <a:ext cx="12192000" cy="2743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" y="123823"/>
              <a:ext cx="12011025" cy="663892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1444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highlight>
                  <a:srgbClr val="FFFF00"/>
                </a:highlight>
              </a:rPr>
              <a:t>Task[2]</a:t>
            </a:r>
            <a:endParaRPr sz="2400" dirty="0">
              <a:highlight>
                <a:srgbClr val="C0C0C0"/>
              </a:highlight>
              <a:latin typeface="Cambria"/>
              <a:cs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3419FEE-2A8C-AF74-2B11-9ABA775D1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28" y="1104900"/>
            <a:ext cx="102870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E65F75C-371D-34FA-71F0-F1DE4FA7BAED}"/>
              </a:ext>
            </a:extLst>
          </p:cNvPr>
          <p:cNvSpPr txBox="1"/>
          <p:nvPr/>
        </p:nvSpPr>
        <p:spPr>
          <a:xfrm>
            <a:off x="666712" y="1214422"/>
            <a:ext cx="10358438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Introduction to Java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Heading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What is Java?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Content</a:t>
            </a:r>
            <a:r>
              <a:rPr lang="en-US" sz="2800" dirty="0">
                <a:solidFill>
                  <a:schemeClr val="bg1"/>
                </a:solidFill>
              </a:rPr>
              <a:t>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Java is a high-level, object-oriented programming language developed by Sun Microsystems (now owned by Oracle Corporation).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It is platform-independent, meaning Java programs can run on any device with a Java Virtual Machine (JVM).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Known for its </a:t>
            </a:r>
            <a:r>
              <a:rPr lang="en-US" sz="2400" b="1" dirty="0">
                <a:solidFill>
                  <a:schemeClr val="bg1"/>
                </a:solidFill>
              </a:rPr>
              <a:t>Write Once, Run Anywhere </a:t>
            </a:r>
            <a:r>
              <a:rPr lang="en-US" sz="2400" dirty="0">
                <a:solidFill>
                  <a:schemeClr val="bg1"/>
                </a:solidFill>
              </a:rPr>
              <a:t>capability. Java is widely used in enterprise applications, mobile apps (Android), and web servers.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Visuals:</a:t>
            </a:r>
            <a:r>
              <a:rPr lang="en-US" sz="2400" dirty="0">
                <a:solidFill>
                  <a:schemeClr val="bg1"/>
                </a:solidFill>
              </a:rPr>
              <a:t> Java logo or an image of the "Write Once, Run Anywhere“ concept.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78C04EC-48D1-F747-D3EF-5A3A0E769334}"/>
              </a:ext>
            </a:extLst>
          </p:cNvPr>
          <p:cNvSpPr txBox="1"/>
          <p:nvPr/>
        </p:nvSpPr>
        <p:spPr>
          <a:xfrm>
            <a:off x="666712" y="571480"/>
            <a:ext cx="8991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History of Java: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Heading: </a:t>
            </a:r>
            <a:r>
              <a:rPr lang="en-US" dirty="0">
                <a:solidFill>
                  <a:schemeClr val="bg1"/>
                </a:solidFill>
              </a:rPr>
              <a:t>Evolution of Java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Content:</a:t>
            </a:r>
          </a:p>
          <a:p>
            <a:r>
              <a:rPr lang="en-US" b="1" dirty="0">
                <a:solidFill>
                  <a:schemeClr val="bg1"/>
                </a:solidFill>
              </a:rPr>
              <a:t>1991:</a:t>
            </a:r>
            <a:r>
              <a:rPr lang="en-US" dirty="0">
                <a:solidFill>
                  <a:schemeClr val="bg1"/>
                </a:solidFill>
              </a:rPr>
              <a:t>Java was initially developed by James Gosling and Mike Sheridan at Sun Microsystems.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1995:</a:t>
            </a:r>
            <a:r>
              <a:rPr lang="en-US" dirty="0">
                <a:solidFill>
                  <a:schemeClr val="bg1"/>
                </a:solidFill>
              </a:rPr>
              <a:t> Official release of Java 1.0 with its slogan: "Write Once, Run Anywhere“.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2004: </a:t>
            </a:r>
            <a:r>
              <a:rPr lang="en-US" dirty="0">
                <a:solidFill>
                  <a:schemeClr val="bg1"/>
                </a:solidFill>
              </a:rPr>
              <a:t>Sun Microsystems released Java 5 (J2SE 5.0), introducing major updates like Generics, Metadata annotations, and Enhanced for-loop.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2009:</a:t>
            </a:r>
            <a:r>
              <a:rPr lang="en-US" dirty="0">
                <a:solidFill>
                  <a:schemeClr val="bg1"/>
                </a:solidFill>
              </a:rPr>
              <a:t> Oracle acquired Sun Microsystems, and Java came under Oracle's stewardship.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Current Day: </a:t>
            </a:r>
            <a:r>
              <a:rPr lang="en-US" dirty="0">
                <a:solidFill>
                  <a:schemeClr val="bg1"/>
                </a:solidFill>
              </a:rPr>
              <a:t>Java continues to evolve with new versions focusing on performance, security, and developer productivity.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Visuals:</a:t>
            </a:r>
            <a:r>
              <a:rPr lang="en-US" dirty="0">
                <a:solidFill>
                  <a:schemeClr val="bg1"/>
                </a:solidFill>
              </a:rPr>
              <a:t> Timeline graphic showing key milestones of Java's history.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14338"/>
            <a:ext cx="12192000" cy="6858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5274" y="857232"/>
            <a:ext cx="10931207" cy="43249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Why OOP in Java?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Modularity: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I Code is organized into classes and objects, making it easier to break down complex systems into smaller, more manageable parts.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Reusability: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OOP promotes code reusability through inheritance. Once a class is written, it can be reused in different parts of the program or in different projects.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Maintainability: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OOP allows you to modify or extend existing code with minimal impact on other parts of the </a:t>
            </a:r>
            <a:r>
              <a:rPr lang="en-US" sz="2000" dirty="0" err="1" smtClean="0">
                <a:solidFill>
                  <a:schemeClr val="bg1"/>
                </a:solidFill>
                <a:latin typeface="Verdana"/>
                <a:cs typeface="Verdana"/>
              </a:rPr>
              <a:t>programme</a:t>
            </a:r>
            <a:r>
              <a:rPr lang="en-US" sz="2000" dirty="0" smtClean="0">
                <a:solidFill>
                  <a:schemeClr val="bg1"/>
                </a:solidFill>
                <a:latin typeface="Verdana"/>
                <a:cs typeface="Verdana"/>
              </a:rPr>
              <a:t>. It's </a:t>
            </a:r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easier to debug, test, and maintain because classes and objects can be easily updated without affecting the entire program.    </a:t>
            </a:r>
            <a:endParaRPr sz="2000" dirty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now on mountain">
            <a:extLst>
              <a:ext uri="{FF2B5EF4-FFF2-40B4-BE49-F238E27FC236}">
                <a16:creationId xmlns:a16="http://schemas.microsoft.com/office/drawing/2014/main" xmlns="" id="{60FD5509-CF1D-C26A-968D-517E8AF00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2CC9EAF-2E66-6016-BF6A-A06EEE7D8FCF}"/>
              </a:ext>
            </a:extLst>
          </p:cNvPr>
          <p:cNvSpPr txBox="1"/>
          <p:nvPr/>
        </p:nvSpPr>
        <p:spPr>
          <a:xfrm>
            <a:off x="457200" y="1219200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</a:t>
            </a:r>
            <a:r>
              <a:rPr lang="en-IN" sz="2400" dirty="0">
                <a:solidFill>
                  <a:schemeClr val="bg1"/>
                </a:solidFill>
              </a:rPr>
              <a:t>To do List</a:t>
            </a:r>
          </a:p>
          <a:p>
            <a:r>
              <a:rPr lang="en-IN" sz="2400" dirty="0">
                <a:solidFill>
                  <a:schemeClr val="bg1"/>
                </a:solidFill>
              </a:rPr>
              <a:t>Example 1: To-Do List using HTML, CSS, and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44CEC08-55F2-1C45-1595-3282369C795D}"/>
              </a:ext>
            </a:extLst>
          </p:cNvPr>
          <p:cNvSpPr txBox="1"/>
          <p:nvPr/>
        </p:nvSpPr>
        <p:spPr>
          <a:xfrm>
            <a:off x="4572000" y="381000"/>
            <a:ext cx="2749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Final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C65D23C-5583-D9AF-E8AC-4A189E1F6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20"/>
          <a:stretch/>
        </p:blipFill>
        <p:spPr>
          <a:xfrm>
            <a:off x="228600" y="2050197"/>
            <a:ext cx="3733800" cy="4731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A6090B3-012F-CDAD-4AA1-7335F4774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394" y="2050195"/>
            <a:ext cx="3930491" cy="4731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F0BC7C5-0FA4-7F05-7674-EFBEA61F4F3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44879" y="2050195"/>
            <a:ext cx="3505200" cy="47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3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836712"/>
            <a:ext cx="8136904" cy="56166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95600" y="4581128"/>
            <a:ext cx="3312368" cy="770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CHANDRADIP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endParaRPr lang="en-IN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563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20707" y="2128504"/>
            <a:ext cx="4475293" cy="457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168140" algn="l"/>
              </a:tabLst>
            </a:pPr>
            <a:endParaRPr sz="8000" dirty="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0600" y="3414141"/>
            <a:ext cx="7696200" cy="243459"/>
            <a:chOff x="1362075" y="3116326"/>
            <a:chExt cx="9933940" cy="920750"/>
          </a:xfrm>
        </p:grpSpPr>
        <p:sp>
          <p:nvSpPr>
            <p:cNvPr id="7" name="object 7"/>
            <p:cNvSpPr/>
            <p:nvPr/>
          </p:nvSpPr>
          <p:spPr>
            <a:xfrm>
              <a:off x="5786501" y="31195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635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686175"/>
              <a:ext cx="9914890" cy="5715"/>
            </a:xfrm>
            <a:custGeom>
              <a:avLst/>
              <a:gdLst/>
              <a:ahLst/>
              <a:cxnLst/>
              <a:rect l="l" t="t" r="r" b="b"/>
              <a:pathLst>
                <a:path w="9914890" h="5714">
                  <a:moveTo>
                    <a:pt x="0" y="5714"/>
                  </a:moveTo>
                  <a:lnTo>
                    <a:pt x="9914636" y="0"/>
                  </a:lnTo>
                </a:path>
              </a:pathLst>
            </a:custGeom>
            <a:ln w="1905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31CCA3F-C288-6A6E-0BD0-FBC5CFE2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219214" cy="6842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269</TotalTime>
  <Words>576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Cambria</vt:lpstr>
      <vt:lpstr>Georgia</vt:lpstr>
      <vt:lpstr>Tahoma</vt:lpstr>
      <vt:lpstr>Verdana</vt:lpstr>
      <vt:lpstr>Office Theme</vt:lpstr>
      <vt:lpstr>PowerPoint Presentation</vt:lpstr>
      <vt:lpstr>PowerPoint Presentation</vt:lpstr>
      <vt:lpstr>PowerPoint Presentation</vt:lpstr>
      <vt:lpstr>Self introduction About internship</vt:lpstr>
      <vt:lpstr>PROCESS FOLLOW FOR INTERNSHIP</vt:lpstr>
      <vt:lpstr>ABOUT INTERNSHIP :</vt:lpstr>
      <vt:lpstr>INTRODUCTION OF COMPANY </vt:lpstr>
      <vt:lpstr>Task 2 – Task work</vt:lpstr>
      <vt:lpstr>This are the technology are use in the project</vt:lpstr>
      <vt:lpstr>Task 1 : Java Code Review and Error Correction</vt:lpstr>
      <vt:lpstr>PowerPoint Presentation</vt:lpstr>
      <vt:lpstr>Task[2]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chetan rajput</dc:creator>
  <cp:lastModifiedBy>DELL</cp:lastModifiedBy>
  <cp:revision>47</cp:revision>
  <dcterms:created xsi:type="dcterms:W3CDTF">2025-04-05T06:30:36Z</dcterms:created>
  <dcterms:modified xsi:type="dcterms:W3CDTF">2026-02-15T06:19:19Z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2024-04-26T00:00:00Z</vt:filetime>
  </property>
  <property fmtid="{D5CDD505-2E9C-101B-9397-08002B2CF9AE}" pid="3" name="LastSaved">
    <vt:filetime>2025-04-05T00:00:00Z</vt:filetime>
  </property>
</Properties>
</file>